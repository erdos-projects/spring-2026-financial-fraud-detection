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Georgi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Georgia"/>
      </a:defRPr>
    </a:lvl1pPr>
    <a:lvl2pPr indent="228600" latinLnBrk="0">
      <a:defRPr sz="1200">
        <a:latin typeface="+mj-lt"/>
        <a:ea typeface="+mj-ea"/>
        <a:cs typeface="+mj-cs"/>
        <a:sym typeface="Georgia"/>
      </a:defRPr>
    </a:lvl2pPr>
    <a:lvl3pPr indent="457200" latinLnBrk="0">
      <a:defRPr sz="1200">
        <a:latin typeface="+mj-lt"/>
        <a:ea typeface="+mj-ea"/>
        <a:cs typeface="+mj-cs"/>
        <a:sym typeface="Georgia"/>
      </a:defRPr>
    </a:lvl3pPr>
    <a:lvl4pPr indent="685800" latinLnBrk="0">
      <a:defRPr sz="1200">
        <a:latin typeface="+mj-lt"/>
        <a:ea typeface="+mj-ea"/>
        <a:cs typeface="+mj-cs"/>
        <a:sym typeface="Georgia"/>
      </a:defRPr>
    </a:lvl4pPr>
    <a:lvl5pPr indent="914400" latinLnBrk="0">
      <a:defRPr sz="1200">
        <a:latin typeface="+mj-lt"/>
        <a:ea typeface="+mj-ea"/>
        <a:cs typeface="+mj-cs"/>
        <a:sym typeface="Georgia"/>
      </a:defRPr>
    </a:lvl5pPr>
    <a:lvl6pPr indent="1143000" latinLnBrk="0">
      <a:defRPr sz="1200">
        <a:latin typeface="+mj-lt"/>
        <a:ea typeface="+mj-ea"/>
        <a:cs typeface="+mj-cs"/>
        <a:sym typeface="Georgia"/>
      </a:defRPr>
    </a:lvl6pPr>
    <a:lvl7pPr indent="1371600" latinLnBrk="0">
      <a:defRPr sz="1200">
        <a:latin typeface="+mj-lt"/>
        <a:ea typeface="+mj-ea"/>
        <a:cs typeface="+mj-cs"/>
        <a:sym typeface="Georgia"/>
      </a:defRPr>
    </a:lvl7pPr>
    <a:lvl8pPr indent="1600200" latinLnBrk="0">
      <a:defRPr sz="1200">
        <a:latin typeface="+mj-lt"/>
        <a:ea typeface="+mj-ea"/>
        <a:cs typeface="+mj-cs"/>
        <a:sym typeface="Georgia"/>
      </a:defRPr>
    </a:lvl8pPr>
    <a:lvl9pPr indent="1828800" latinLnBrk="0">
      <a:defRPr sz="1200">
        <a:latin typeface="+mj-lt"/>
        <a:ea typeface="+mj-ea"/>
        <a:cs typeface="+mj-cs"/>
        <a:sym typeface="Georgia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" name="Shape 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Content adapted from REPORT_DRAFT.md (user-provided).</a:t>
            </a:r>
          </a:p>
          <a:p>
            <a:pPr/>
            <a:r>
              <a:t>- Visual style referenced from Financial_Fraud_Detection.pdf (user-provided).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" name="Shape 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REPORT_DRAFT.md (user-provided).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" name="Shape 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REPORT_DRAFT.md (user-provided).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REPORT_DRAFT.md (user-provided).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" name="Shape 1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REPORT_DRAFT.md (user-provided).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REPORT_DRAFT.md (user-provided).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Georg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3">
            <a:alphaModFix amt="90000"/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0"/>
          <p:cNvSpPr/>
          <p:nvPr/>
        </p:nvSpPr>
        <p:spPr>
          <a:xfrm>
            <a:off x="2432304" y="3401567"/>
            <a:ext cx="7315201" cy="1"/>
          </a:xfrm>
          <a:prstGeom prst="line">
            <a:avLst/>
          </a:prstGeom>
          <a:ln w="1524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1"/>
          <p:cNvSpPr txBox="1"/>
          <p:nvPr/>
        </p:nvSpPr>
        <p:spPr>
          <a:xfrm>
            <a:off x="1463039" y="2060194"/>
            <a:ext cx="932688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300">
                <a:solidFill>
                  <a:srgbClr val="222222"/>
                </a:solidFill>
              </a:defRPr>
            </a:lvl1pPr>
          </a:lstStyle>
          <a:p>
            <a:pPr/>
            <a:r>
              <a:t>Financial Fraud Detection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3429000" y="3842257"/>
            <a:ext cx="53492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500">
                <a:solidFill>
                  <a:srgbClr val="5D5A55"/>
                </a:solidFill>
              </a:defRPr>
            </a:lvl1pPr>
          </a:lstStyle>
          <a:p>
            <a:pPr/>
            <a:r>
              <a:t>Zengrui Han, Ching Hsien Lee, Kuijun Liu and Bojue Wang</a:t>
            </a:r>
          </a:p>
        </p:txBody>
      </p:sp>
      <p:sp>
        <p:nvSpPr>
          <p:cNvPr id="24" name="Shape 4"/>
          <p:cNvSpPr/>
          <p:nvPr/>
        </p:nvSpPr>
        <p:spPr>
          <a:xfrm>
            <a:off x="530352" y="6236208"/>
            <a:ext cx="11128248" cy="1"/>
          </a:xfrm>
          <a:prstGeom prst="line">
            <a:avLst/>
          </a:prstGeom>
          <a:ln w="13970">
            <a:solidFill>
              <a:srgbClr val="222222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473440" y="410972"/>
            <a:ext cx="38404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222222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9" name="Text 1"/>
          <p:cNvSpPr txBox="1"/>
          <p:nvPr/>
        </p:nvSpPr>
        <p:spPr>
          <a:xfrm>
            <a:off x="1024128" y="404622"/>
            <a:ext cx="722376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222222"/>
                </a:solidFill>
              </a:defRPr>
            </a:lvl1pPr>
          </a:lstStyle>
          <a:p>
            <a:pPr/>
            <a:r>
              <a:t>Problem Setting</a:t>
            </a:r>
          </a:p>
        </p:txBody>
      </p:sp>
      <p:sp>
        <p:nvSpPr>
          <p:cNvPr id="30" name="Shape 2"/>
          <p:cNvSpPr/>
          <p:nvPr/>
        </p:nvSpPr>
        <p:spPr>
          <a:xfrm>
            <a:off x="1024127" y="841247"/>
            <a:ext cx="10561322" cy="1"/>
          </a:xfrm>
          <a:prstGeom prst="line">
            <a:avLst/>
          </a:prstGeom>
          <a:ln w="1524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3"/>
          <p:cNvSpPr txBox="1"/>
          <p:nvPr/>
        </p:nvSpPr>
        <p:spPr>
          <a:xfrm>
            <a:off x="711184" y="1004633"/>
            <a:ext cx="9700708" cy="1510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86968">
              <a:defRPr sz="2134">
                <a:solidFill>
                  <a:srgbClr val="35322D"/>
                </a:solidFill>
              </a:defRPr>
            </a:lvl1pPr>
          </a:lstStyle>
          <a:p>
            <a:pPr/>
            <a:r>
              <a:t>Financial fraud detection is an operational screening problem: institutions must flag rare suspicious activity under evolving behavior and high false-positive cost. In blockchain settings, that evidence often appears as money-flow patterns across related accounts, addresses, and transactions rather than isolated records.</a:t>
            </a:r>
          </a:p>
        </p:txBody>
      </p:sp>
      <p:sp>
        <p:nvSpPr>
          <p:cNvPr id="32" name="Text 4"/>
          <p:cNvSpPr txBox="1"/>
          <p:nvPr/>
        </p:nvSpPr>
        <p:spPr>
          <a:xfrm>
            <a:off x="571957" y="2671110"/>
            <a:ext cx="387391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222222"/>
                </a:solidFill>
              </a:defRPr>
            </a:lvl1pPr>
          </a:lstStyle>
          <a:p>
            <a:pPr/>
            <a:r>
              <a:t>Why this is challenging</a:t>
            </a:r>
          </a:p>
        </p:txBody>
      </p:sp>
      <p:sp>
        <p:nvSpPr>
          <p:cNvPr id="33" name="Text 5"/>
          <p:cNvSpPr txBox="1"/>
          <p:nvPr/>
        </p:nvSpPr>
        <p:spPr>
          <a:xfrm>
            <a:off x="652620" y="3175978"/>
            <a:ext cx="10967423" cy="2961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buSzPct val="100000"/>
              <a:buChar char="•"/>
              <a:defRPr sz="1900">
                <a:solidFill>
                  <a:srgbClr val="222222"/>
                </a:solidFill>
              </a:defRPr>
            </a:pPr>
            <a:r>
              <a:t>Coordinated fraud rings are easier to detect when neighborhood structure is visible.</a:t>
            </a:r>
          </a:p>
          <a:p>
            <a:pPr marL="228600" indent="-228600">
              <a:buSzPct val="100000"/>
              <a:buChar char="•"/>
              <a:defRPr sz="1900">
                <a:solidFill>
                  <a:srgbClr val="222222"/>
                </a:solidFill>
              </a:defRPr>
            </a:pPr>
          </a:p>
          <a:p>
            <a:pPr marL="228600" indent="-228600">
              <a:buSzPct val="100000"/>
              <a:buChar char="•"/>
              <a:defRPr sz="1900">
                <a:solidFill>
                  <a:srgbClr val="222222"/>
                </a:solidFill>
              </a:defRPr>
            </a:pPr>
            <a:r>
              <a:t>The labeled data is highly imbalanced, so accuracy is not a reliable headline metric.</a:t>
            </a:r>
          </a:p>
          <a:p>
            <a:pPr>
              <a:defRPr sz="1900">
                <a:solidFill>
                  <a:srgbClr val="222222"/>
                </a:solidFill>
              </a:defRPr>
            </a:pPr>
          </a:p>
          <a:p>
            <a:pPr marL="140368" indent="-140368">
              <a:lnSpc>
                <a:spcPct val="110000"/>
              </a:lnSpc>
              <a:spcBef>
                <a:spcPts val="700"/>
              </a:spcBef>
              <a:buSzPct val="100000"/>
              <a:buChar char="•"/>
              <a:defRPr sz="1900">
                <a:solidFill>
                  <a:srgbClr val="35322D"/>
                </a:solidFill>
              </a:defRPr>
            </a:pPr>
            <a:r>
              <a:t>  Precision matters operationally because every false positive creates analyst review cost, while recall matters because missed illicit flows are costly.</a:t>
            </a:r>
          </a:p>
          <a:p>
            <a:pPr marL="140368" indent="-140368">
              <a:lnSpc>
                <a:spcPct val="110000"/>
              </a:lnSpc>
              <a:spcBef>
                <a:spcPts val="700"/>
              </a:spcBef>
              <a:buSzPct val="100000"/>
              <a:buChar char="•"/>
              <a:defRPr sz="1900">
                <a:solidFill>
                  <a:srgbClr val="35322D"/>
                </a:solidFill>
              </a:defRPr>
            </a:pPr>
          </a:p>
          <a:p>
            <a:pPr>
              <a:defRPr sz="1900">
                <a:solidFill>
                  <a:srgbClr val="222222"/>
                </a:solidFill>
              </a:defRPr>
            </a:pPr>
            <a:r>
              <a:t>The project tests a simple feature-only baseline against graph-aware models to see when neighborhood structure adds real value. Evaluation emphasizes illicit-class F1, precision, recall, ROC-AUC, and PR-AUC where available.</a:t>
            </a:r>
          </a:p>
        </p:txBody>
      </p:sp>
      <p:sp>
        <p:nvSpPr>
          <p:cNvPr id="34" name="Text 20"/>
          <p:cNvSpPr txBox="1"/>
          <p:nvPr/>
        </p:nvSpPr>
        <p:spPr>
          <a:xfrm>
            <a:off x="5833871" y="6449821"/>
            <a:ext cx="5486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 txBox="1"/>
          <p:nvPr/>
        </p:nvSpPr>
        <p:spPr>
          <a:xfrm>
            <a:off x="473440" y="410972"/>
            <a:ext cx="38404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222222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" name="Text 1"/>
          <p:cNvSpPr txBox="1"/>
          <p:nvPr/>
        </p:nvSpPr>
        <p:spPr>
          <a:xfrm>
            <a:off x="1024128" y="404622"/>
            <a:ext cx="722376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222222"/>
                </a:solidFill>
              </a:defRPr>
            </a:lvl1pPr>
          </a:lstStyle>
          <a:p>
            <a:pPr/>
            <a:r>
              <a:t>Datasets</a:t>
            </a:r>
          </a:p>
        </p:txBody>
      </p:sp>
      <p:sp>
        <p:nvSpPr>
          <p:cNvPr id="40" name="Shape 2"/>
          <p:cNvSpPr/>
          <p:nvPr/>
        </p:nvSpPr>
        <p:spPr>
          <a:xfrm>
            <a:off x="1024127" y="841247"/>
            <a:ext cx="10561322" cy="1"/>
          </a:xfrm>
          <a:prstGeom prst="line">
            <a:avLst/>
          </a:prstGeom>
          <a:ln w="1524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4"/>
          <p:cNvSpPr txBox="1"/>
          <p:nvPr/>
        </p:nvSpPr>
        <p:spPr>
          <a:xfrm>
            <a:off x="609822" y="1110124"/>
            <a:ext cx="1828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>
                <a:solidFill>
                  <a:srgbClr val="222222"/>
                </a:solidFill>
              </a:defRPr>
            </a:lvl1pPr>
          </a:lstStyle>
          <a:p>
            <a:pPr/>
            <a:r>
              <a:t>Elliptic++</a:t>
            </a:r>
          </a:p>
        </p:txBody>
      </p:sp>
      <p:sp>
        <p:nvSpPr>
          <p:cNvPr id="42" name="Text 22"/>
          <p:cNvSpPr txBox="1"/>
          <p:nvPr/>
        </p:nvSpPr>
        <p:spPr>
          <a:xfrm>
            <a:off x="655542" y="1566816"/>
            <a:ext cx="10972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Transactions</a:t>
            </a:r>
          </a:p>
        </p:txBody>
      </p:sp>
      <p:sp>
        <p:nvSpPr>
          <p:cNvPr id="43" name="Text 23"/>
          <p:cNvSpPr txBox="1"/>
          <p:nvPr/>
        </p:nvSpPr>
        <p:spPr>
          <a:xfrm>
            <a:off x="655542" y="1782970"/>
            <a:ext cx="109728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905255">
              <a:defRPr sz="1782">
                <a:solidFill>
                  <a:srgbClr val="222222"/>
                </a:solidFill>
              </a:defRPr>
            </a:lvl1pPr>
          </a:lstStyle>
          <a:p>
            <a:pPr/>
            <a:r>
              <a:t>203,769</a:t>
            </a:r>
          </a:p>
        </p:txBody>
      </p:sp>
      <p:sp>
        <p:nvSpPr>
          <p:cNvPr id="44" name="Text 24"/>
          <p:cNvSpPr txBox="1"/>
          <p:nvPr/>
        </p:nvSpPr>
        <p:spPr>
          <a:xfrm>
            <a:off x="1798542" y="1566816"/>
            <a:ext cx="8686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Txn features</a:t>
            </a:r>
          </a:p>
        </p:txBody>
      </p:sp>
      <p:sp>
        <p:nvSpPr>
          <p:cNvPr id="45" name="Text 25"/>
          <p:cNvSpPr txBox="1"/>
          <p:nvPr/>
        </p:nvSpPr>
        <p:spPr>
          <a:xfrm>
            <a:off x="1798542" y="1782970"/>
            <a:ext cx="86868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905255">
              <a:defRPr sz="1782">
                <a:solidFill>
                  <a:srgbClr val="222222"/>
                </a:solidFill>
              </a:defRPr>
            </a:lvl1pPr>
          </a:lstStyle>
          <a:p>
            <a:pPr/>
            <a:r>
              <a:t>182</a:t>
            </a:r>
          </a:p>
        </p:txBody>
      </p:sp>
      <p:sp>
        <p:nvSpPr>
          <p:cNvPr id="46" name="Text 26"/>
          <p:cNvSpPr txBox="1"/>
          <p:nvPr/>
        </p:nvSpPr>
        <p:spPr>
          <a:xfrm>
            <a:off x="2804382" y="1566816"/>
            <a:ext cx="14630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Wallet rows</a:t>
            </a:r>
          </a:p>
        </p:txBody>
      </p:sp>
      <p:sp>
        <p:nvSpPr>
          <p:cNvPr id="47" name="Text 27"/>
          <p:cNvSpPr txBox="1"/>
          <p:nvPr/>
        </p:nvSpPr>
        <p:spPr>
          <a:xfrm>
            <a:off x="2804382" y="1782970"/>
            <a:ext cx="146304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905255">
              <a:defRPr sz="1782">
                <a:solidFill>
                  <a:srgbClr val="222222"/>
                </a:solidFill>
              </a:defRPr>
            </a:lvl1pPr>
          </a:lstStyle>
          <a:p>
            <a:pPr/>
            <a:r>
              <a:t>1,268,260</a:t>
            </a:r>
          </a:p>
        </p:txBody>
      </p:sp>
      <p:sp>
        <p:nvSpPr>
          <p:cNvPr id="48" name="Text 28"/>
          <p:cNvSpPr txBox="1"/>
          <p:nvPr/>
        </p:nvSpPr>
        <p:spPr>
          <a:xfrm>
            <a:off x="655542" y="2155842"/>
            <a:ext cx="475488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5D5A55"/>
                </a:solidFill>
              </a:defRPr>
            </a:lvl1pPr>
          </a:lstStyle>
          <a:p>
            <a:pPr/>
            <a:r>
              <a:t>Graph expansion adds address relations and wallet features</a:t>
            </a:r>
          </a:p>
        </p:txBody>
      </p:sp>
      <p:sp>
        <p:nvSpPr>
          <p:cNvPr id="49" name="Text 29"/>
          <p:cNvSpPr txBox="1"/>
          <p:nvPr/>
        </p:nvSpPr>
        <p:spPr>
          <a:xfrm>
            <a:off x="655542" y="2736486"/>
            <a:ext cx="13716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222222"/>
                </a:solidFill>
              </a:defRPr>
            </a:lvl1pPr>
          </a:lstStyle>
          <a:p>
            <a:pPr/>
            <a:r>
              <a:t>Relational edges</a:t>
            </a:r>
          </a:p>
        </p:txBody>
      </p:sp>
      <p:sp>
        <p:nvSpPr>
          <p:cNvPr id="50" name="Text 30"/>
          <p:cNvSpPr txBox="1"/>
          <p:nvPr/>
        </p:nvSpPr>
        <p:spPr>
          <a:xfrm>
            <a:off x="655542" y="2980834"/>
            <a:ext cx="4791457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905255">
              <a:defRPr sz="1188">
                <a:solidFill>
                  <a:srgbClr val="222222"/>
                </a:solidFill>
              </a:defRPr>
            </a:lvl1pPr>
          </a:lstStyle>
          <a:p>
            <a:pPr/>
            <a:r>
              <a:t>txn-txn 234,355   •   txn-address 837,124   •   address-address 2,868,964</a:t>
            </a:r>
          </a:p>
        </p:txBody>
      </p:sp>
      <p:sp>
        <p:nvSpPr>
          <p:cNvPr id="51" name="Text 31"/>
          <p:cNvSpPr txBox="1"/>
          <p:nvPr/>
        </p:nvSpPr>
        <p:spPr>
          <a:xfrm>
            <a:off x="655542" y="3529474"/>
            <a:ext cx="4663441" cy="621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222222"/>
                </a:solidFill>
              </a:defRPr>
            </a:lvl1pPr>
          </a:lstStyle>
          <a:p>
            <a:pPr/>
            <a:r>
              <a:t>Same labeled transaction set, plus address-level supervision and multi-task learning.</a:t>
            </a:r>
          </a:p>
        </p:txBody>
      </p:sp>
      <p:sp>
        <p:nvSpPr>
          <p:cNvPr id="52" name="Text 32"/>
          <p:cNvSpPr txBox="1"/>
          <p:nvPr/>
        </p:nvSpPr>
        <p:spPr>
          <a:xfrm>
            <a:off x="655542" y="4211210"/>
            <a:ext cx="18288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222222"/>
                </a:solidFill>
              </a:defRPr>
            </a:lvl1pPr>
          </a:lstStyle>
          <a:p>
            <a:pPr/>
            <a:r>
              <a:t>Label imbalance remains severe</a:t>
            </a:r>
          </a:p>
        </p:txBody>
      </p:sp>
      <p:sp>
        <p:nvSpPr>
          <p:cNvPr id="53" name="Shape 33"/>
          <p:cNvSpPr/>
          <p:nvPr/>
        </p:nvSpPr>
        <p:spPr>
          <a:xfrm>
            <a:off x="655542" y="4571890"/>
            <a:ext cx="4709161" cy="301753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34"/>
          <p:cNvSpPr/>
          <p:nvPr/>
        </p:nvSpPr>
        <p:spPr>
          <a:xfrm>
            <a:off x="655542" y="4571890"/>
            <a:ext cx="3633054" cy="301753"/>
          </a:xfrm>
          <a:prstGeom prst="rect">
            <a:avLst/>
          </a:prstGeom>
          <a:solidFill>
            <a:srgbClr val="D9D4CA"/>
          </a:solidFill>
          <a:ln w="12700">
            <a:solidFill>
              <a:srgbClr val="D9D4C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35"/>
          <p:cNvSpPr/>
          <p:nvPr/>
        </p:nvSpPr>
        <p:spPr>
          <a:xfrm>
            <a:off x="4288595" y="4571890"/>
            <a:ext cx="971071" cy="301753"/>
          </a:xfrm>
          <a:prstGeom prst="rect">
            <a:avLst/>
          </a:prstGeom>
          <a:solidFill>
            <a:srgbClr val="BFB8AB"/>
          </a:solidFill>
          <a:ln w="12700">
            <a:solidFill>
              <a:srgbClr val="BFB8AB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36"/>
          <p:cNvSpPr/>
          <p:nvPr/>
        </p:nvSpPr>
        <p:spPr>
          <a:xfrm>
            <a:off x="5259666" y="4571890"/>
            <a:ext cx="105036" cy="301753"/>
          </a:xfrm>
          <a:prstGeom prst="rect">
            <a:avLst/>
          </a:prstGeom>
          <a:solidFill>
            <a:srgbClr val="8A5A5A"/>
          </a:solidFill>
          <a:ln w="12700">
            <a:solidFill>
              <a:srgbClr val="8A5A5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37"/>
          <p:cNvSpPr txBox="1"/>
          <p:nvPr/>
        </p:nvSpPr>
        <p:spPr>
          <a:xfrm>
            <a:off x="655542" y="4968384"/>
            <a:ext cx="15544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unknown 157,205</a:t>
            </a:r>
          </a:p>
        </p:txBody>
      </p:sp>
      <p:sp>
        <p:nvSpPr>
          <p:cNvPr id="58" name="Text 38"/>
          <p:cNvSpPr txBox="1"/>
          <p:nvPr/>
        </p:nvSpPr>
        <p:spPr>
          <a:xfrm>
            <a:off x="2502630" y="4968384"/>
            <a:ext cx="10972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licit 42,019</a:t>
            </a:r>
          </a:p>
        </p:txBody>
      </p:sp>
      <p:sp>
        <p:nvSpPr>
          <p:cNvPr id="59" name="Text 39"/>
          <p:cNvSpPr txBox="1"/>
          <p:nvPr/>
        </p:nvSpPr>
        <p:spPr>
          <a:xfrm>
            <a:off x="4111974" y="4968384"/>
            <a:ext cx="10972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5A5A"/>
                </a:solidFill>
              </a:defRPr>
            </a:lvl1pPr>
          </a:lstStyle>
          <a:p>
            <a:pPr/>
            <a:r>
              <a:t>illicit 4,545</a:t>
            </a:r>
          </a:p>
        </p:txBody>
      </p:sp>
      <p:sp>
        <p:nvSpPr>
          <p:cNvPr id="60" name="Text 45"/>
          <p:cNvSpPr txBox="1"/>
          <p:nvPr/>
        </p:nvSpPr>
        <p:spPr>
          <a:xfrm>
            <a:off x="5833871" y="6449821"/>
            <a:ext cx="5486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61" name="txsviz.png" descr="txsviz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57340" y="299370"/>
            <a:ext cx="5705674" cy="18882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actorvizaddrtx.jpg" descr="actorvizaddrtx.jpg"/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6147971" y="2853040"/>
            <a:ext cx="5389680" cy="2931348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ransactions graph visualization"/>
          <p:cNvSpPr txBox="1"/>
          <p:nvPr/>
        </p:nvSpPr>
        <p:spPr>
          <a:xfrm>
            <a:off x="7133982" y="2343548"/>
            <a:ext cx="3023653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Transactions graph visualization</a:t>
            </a:r>
          </a:p>
        </p:txBody>
      </p:sp>
      <p:sp>
        <p:nvSpPr>
          <p:cNvPr id="64" name="Actors graph visualization"/>
          <p:cNvSpPr txBox="1"/>
          <p:nvPr/>
        </p:nvSpPr>
        <p:spPr>
          <a:xfrm>
            <a:off x="7424792" y="5846676"/>
            <a:ext cx="244203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Actors graph visualization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 txBox="1"/>
          <p:nvPr/>
        </p:nvSpPr>
        <p:spPr>
          <a:xfrm>
            <a:off x="512063" y="410972"/>
            <a:ext cx="38404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222222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9" name="Text 1"/>
          <p:cNvSpPr txBox="1"/>
          <p:nvPr/>
        </p:nvSpPr>
        <p:spPr>
          <a:xfrm>
            <a:off x="1024128" y="404622"/>
            <a:ext cx="722376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222222"/>
                </a:solidFill>
              </a:defRPr>
            </a:lvl1pPr>
          </a:lstStyle>
          <a:p>
            <a:pPr/>
            <a:r>
              <a:t>Models Evaluated</a:t>
            </a:r>
          </a:p>
        </p:txBody>
      </p:sp>
      <p:sp>
        <p:nvSpPr>
          <p:cNvPr id="70" name="Shape 2"/>
          <p:cNvSpPr/>
          <p:nvPr/>
        </p:nvSpPr>
        <p:spPr>
          <a:xfrm>
            <a:off x="1024127" y="841247"/>
            <a:ext cx="10561322" cy="1"/>
          </a:xfrm>
          <a:prstGeom prst="line">
            <a:avLst/>
          </a:prstGeom>
          <a:ln w="1524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3"/>
          <p:cNvSpPr txBox="1"/>
          <p:nvPr/>
        </p:nvSpPr>
        <p:spPr>
          <a:xfrm>
            <a:off x="768095" y="989583"/>
            <a:ext cx="598932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222222"/>
                </a:solidFill>
              </a:defRPr>
            </a:lvl1pPr>
          </a:lstStyle>
          <a:p>
            <a:pPr/>
            <a:r>
              <a:t>The project compares a strong tabular baseline against increasingly graph-aware models.</a:t>
            </a:r>
          </a:p>
        </p:txBody>
      </p:sp>
      <p:sp>
        <p:nvSpPr>
          <p:cNvPr id="72" name="Shape 4"/>
          <p:cNvSpPr/>
          <p:nvPr/>
        </p:nvSpPr>
        <p:spPr>
          <a:xfrm>
            <a:off x="1234439" y="2541968"/>
            <a:ext cx="9098282" cy="1"/>
          </a:xfrm>
          <a:prstGeom prst="line">
            <a:avLst/>
          </a:prstGeom>
          <a:ln w="1524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5"/>
          <p:cNvSpPr/>
          <p:nvPr/>
        </p:nvSpPr>
        <p:spPr>
          <a:xfrm>
            <a:off x="987552" y="2194496"/>
            <a:ext cx="658369" cy="658369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6"/>
          <p:cNvSpPr txBox="1"/>
          <p:nvPr/>
        </p:nvSpPr>
        <p:spPr>
          <a:xfrm>
            <a:off x="987552" y="2358072"/>
            <a:ext cx="65836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222222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7"/>
          <p:cNvSpPr txBox="1"/>
          <p:nvPr/>
        </p:nvSpPr>
        <p:spPr>
          <a:xfrm>
            <a:off x="576072" y="3072320"/>
            <a:ext cx="150876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222222"/>
                </a:solidFill>
              </a:defRPr>
            </a:lvl1pPr>
          </a:lstStyle>
          <a:p>
            <a:pPr/>
            <a:r>
              <a:t>XGBoost</a:t>
            </a:r>
          </a:p>
        </p:txBody>
      </p:sp>
      <p:sp>
        <p:nvSpPr>
          <p:cNvPr id="76" name="Text 8"/>
          <p:cNvSpPr txBox="1"/>
          <p:nvPr/>
        </p:nvSpPr>
        <p:spPr>
          <a:xfrm>
            <a:off x="301752" y="3438080"/>
            <a:ext cx="2057401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200">
                <a:solidFill>
                  <a:srgbClr val="5D5A55"/>
                </a:solidFill>
              </a:defRPr>
            </a:pPr>
            <a:r>
              <a:t>Feature-only</a:t>
            </a:r>
          </a:p>
          <a:p>
            <a:pPr algn="ctr">
              <a:defRPr sz="1200">
                <a:solidFill>
                  <a:srgbClr val="5D5A55"/>
                </a:solidFill>
              </a:defRPr>
            </a:pPr>
            <a:r>
              <a:t>transaction baseline</a:t>
            </a:r>
          </a:p>
        </p:txBody>
      </p:sp>
      <p:sp>
        <p:nvSpPr>
          <p:cNvPr id="77" name="Shape 9"/>
          <p:cNvSpPr/>
          <p:nvPr/>
        </p:nvSpPr>
        <p:spPr>
          <a:xfrm>
            <a:off x="3520440" y="2194496"/>
            <a:ext cx="658369" cy="658369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10"/>
          <p:cNvSpPr txBox="1"/>
          <p:nvPr/>
        </p:nvSpPr>
        <p:spPr>
          <a:xfrm>
            <a:off x="3520440" y="2358072"/>
            <a:ext cx="65836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222222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9" name="Text 11"/>
          <p:cNvSpPr txBox="1"/>
          <p:nvPr/>
        </p:nvSpPr>
        <p:spPr>
          <a:xfrm>
            <a:off x="3108960" y="3072320"/>
            <a:ext cx="150876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222222"/>
                </a:solidFill>
              </a:defRPr>
            </a:lvl1pPr>
          </a:lstStyle>
          <a:p>
            <a:pPr/>
            <a:r>
              <a:t>Baseline GCN</a:t>
            </a:r>
          </a:p>
        </p:txBody>
      </p:sp>
      <p:sp>
        <p:nvSpPr>
          <p:cNvPr id="80" name="Text 12"/>
          <p:cNvSpPr txBox="1"/>
          <p:nvPr/>
        </p:nvSpPr>
        <p:spPr>
          <a:xfrm>
            <a:off x="2834639" y="3438080"/>
            <a:ext cx="2057401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200">
                <a:solidFill>
                  <a:srgbClr val="5D5A55"/>
                </a:solidFill>
              </a:defRPr>
            </a:pPr>
            <a:r>
              <a:t>Homogeneous graph</a:t>
            </a:r>
          </a:p>
          <a:p>
            <a:pPr algn="ctr">
              <a:defRPr sz="1200">
                <a:solidFill>
                  <a:srgbClr val="5D5A55"/>
                </a:solidFill>
              </a:defRPr>
            </a:pPr>
            <a:r>
              <a:t>with weighted loss</a:t>
            </a:r>
          </a:p>
        </p:txBody>
      </p:sp>
      <p:sp>
        <p:nvSpPr>
          <p:cNvPr id="81" name="Shape 13"/>
          <p:cNvSpPr/>
          <p:nvPr/>
        </p:nvSpPr>
        <p:spPr>
          <a:xfrm>
            <a:off x="6053328" y="2194496"/>
            <a:ext cx="658369" cy="658369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4"/>
          <p:cNvSpPr txBox="1"/>
          <p:nvPr/>
        </p:nvSpPr>
        <p:spPr>
          <a:xfrm>
            <a:off x="6053328" y="2358072"/>
            <a:ext cx="65836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222222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3" name="Text 15"/>
          <p:cNvSpPr txBox="1"/>
          <p:nvPr/>
        </p:nvSpPr>
        <p:spPr>
          <a:xfrm>
            <a:off x="5641847" y="3072320"/>
            <a:ext cx="150876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722376">
              <a:defRPr b="1" sz="1106">
                <a:solidFill>
                  <a:srgbClr val="222222"/>
                </a:solidFill>
              </a:defRPr>
            </a:lvl1pPr>
          </a:lstStyle>
          <a:p>
            <a:pPr/>
            <a:r>
              <a:t>Wallet-upgrade GCN</a:t>
            </a:r>
          </a:p>
        </p:txBody>
      </p:sp>
      <p:sp>
        <p:nvSpPr>
          <p:cNvPr id="84" name="Text 16"/>
          <p:cNvSpPr txBox="1"/>
          <p:nvPr/>
        </p:nvSpPr>
        <p:spPr>
          <a:xfrm>
            <a:off x="5367528" y="3438080"/>
            <a:ext cx="2057401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200">
                <a:solidFill>
                  <a:srgbClr val="5D5A55"/>
                </a:solidFill>
              </a:defRPr>
            </a:pPr>
            <a:r>
              <a:t>Richer features</a:t>
            </a:r>
          </a:p>
          <a:p>
            <a:pPr algn="ctr">
              <a:defRPr sz="1200">
                <a:solidFill>
                  <a:srgbClr val="5D5A55"/>
                </a:solidFill>
              </a:defRPr>
            </a:pPr>
            <a:r>
              <a:t>within the graph</a:t>
            </a:r>
          </a:p>
        </p:txBody>
      </p:sp>
      <p:sp>
        <p:nvSpPr>
          <p:cNvPr id="85" name="Shape 17"/>
          <p:cNvSpPr/>
          <p:nvPr/>
        </p:nvSpPr>
        <p:spPr>
          <a:xfrm>
            <a:off x="8586216" y="2194496"/>
            <a:ext cx="658369" cy="658369"/>
          </a:xfrm>
          <a:prstGeom prst="ellipse">
            <a:avLst/>
          </a:prstGeom>
          <a:solidFill>
            <a:srgbClr val="ECE8DF"/>
          </a:solidFill>
          <a:ln w="11430">
            <a:solidFill>
              <a:srgbClr val="22222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8"/>
          <p:cNvSpPr txBox="1"/>
          <p:nvPr/>
        </p:nvSpPr>
        <p:spPr>
          <a:xfrm>
            <a:off x="8586216" y="2358072"/>
            <a:ext cx="65836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222222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7" name="Text 19"/>
          <p:cNvSpPr txBox="1"/>
          <p:nvPr/>
        </p:nvSpPr>
        <p:spPr>
          <a:xfrm>
            <a:off x="8174735" y="3072320"/>
            <a:ext cx="150876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667512">
              <a:defRPr b="1" sz="1022">
                <a:solidFill>
                  <a:srgbClr val="222222"/>
                </a:solidFill>
              </a:defRPr>
            </a:lvl1pPr>
          </a:lstStyle>
          <a:p>
            <a:pPr/>
            <a:r>
              <a:t>Directed hetero + multi-task</a:t>
            </a:r>
          </a:p>
        </p:txBody>
      </p:sp>
      <p:sp>
        <p:nvSpPr>
          <p:cNvPr id="88" name="Text 20"/>
          <p:cNvSpPr txBox="1"/>
          <p:nvPr/>
        </p:nvSpPr>
        <p:spPr>
          <a:xfrm>
            <a:off x="7900416" y="3438080"/>
            <a:ext cx="2057401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200">
                <a:solidFill>
                  <a:srgbClr val="5D5A55"/>
                </a:solidFill>
              </a:defRPr>
            </a:pPr>
            <a:r>
              <a:t>Multiple node types</a:t>
            </a:r>
          </a:p>
          <a:p>
            <a:pPr algn="ctr">
              <a:defRPr sz="1200">
                <a:solidFill>
                  <a:srgbClr val="5D5A55"/>
                </a:solidFill>
              </a:defRPr>
            </a:pPr>
            <a:r>
              <a:t>and auxiliary supervision</a:t>
            </a:r>
          </a:p>
        </p:txBody>
      </p:sp>
      <p:sp>
        <p:nvSpPr>
          <p:cNvPr id="89" name="Text 21"/>
          <p:cNvSpPr txBox="1"/>
          <p:nvPr/>
        </p:nvSpPr>
        <p:spPr>
          <a:xfrm>
            <a:off x="495687" y="4359179"/>
            <a:ext cx="510430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22222"/>
                </a:solidFill>
              </a:defRPr>
            </a:lvl1pPr>
          </a:lstStyle>
          <a:p>
            <a:pPr/>
            <a:r>
              <a:t>Compared designs on Elliptic++</a:t>
            </a:r>
          </a:p>
        </p:txBody>
      </p:sp>
      <p:sp>
        <p:nvSpPr>
          <p:cNvPr id="90" name="Text 22"/>
          <p:cNvSpPr txBox="1"/>
          <p:nvPr/>
        </p:nvSpPr>
        <p:spPr>
          <a:xfrm>
            <a:off x="817546" y="4778991"/>
            <a:ext cx="6535973" cy="144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87376" indent="-87376" defTabSz="393192">
              <a:buSzPct val="100000"/>
              <a:buChar char="•"/>
              <a:defRPr sz="1118">
                <a:solidFill>
                  <a:srgbClr val="222222"/>
                </a:solidFill>
              </a:defRPr>
            </a:pPr>
            <a:r>
              <a:t>Baseline GCN</a:t>
            </a:r>
          </a:p>
          <a:p>
            <a:pPr marL="87376" indent="-87376" defTabSz="393192">
              <a:buSzPct val="100000"/>
              <a:buChar char="•"/>
              <a:defRPr sz="1118">
                <a:solidFill>
                  <a:srgbClr val="222222"/>
                </a:solidFill>
              </a:defRPr>
            </a:pPr>
          </a:p>
          <a:p>
            <a:pPr marL="87376" indent="-87376" defTabSz="393192">
              <a:buSzPct val="100000"/>
              <a:buChar char="•"/>
              <a:defRPr sz="1118">
                <a:solidFill>
                  <a:srgbClr val="222222"/>
                </a:solidFill>
              </a:defRPr>
            </a:pPr>
            <a:r>
              <a:t>Wallet-upgrade GCN</a:t>
            </a:r>
          </a:p>
          <a:p>
            <a:pPr marL="87376" indent="-87376" defTabSz="393192">
              <a:buSzPct val="100000"/>
              <a:buChar char="•"/>
              <a:defRPr sz="1118">
                <a:solidFill>
                  <a:srgbClr val="222222"/>
                </a:solidFill>
              </a:defRPr>
            </a:pPr>
          </a:p>
          <a:p>
            <a:pPr marL="87376" indent="-87376" defTabSz="393192">
              <a:buSzPct val="100000"/>
              <a:buChar char="•"/>
              <a:defRPr sz="1118">
                <a:solidFill>
                  <a:srgbClr val="222222"/>
                </a:solidFill>
              </a:defRPr>
            </a:pPr>
            <a:r>
              <a:t>Directed heterogeneous GNN</a:t>
            </a:r>
          </a:p>
          <a:p>
            <a:pPr defTabSz="393192">
              <a:defRPr sz="1118">
                <a:solidFill>
                  <a:srgbClr val="222222"/>
                </a:solidFill>
              </a:defRPr>
            </a:pPr>
          </a:p>
          <a:p>
            <a:pPr marL="112094" indent="-112094" defTabSz="393192">
              <a:buSzPct val="100000"/>
              <a:buChar char="•"/>
              <a:defRPr sz="1118">
                <a:solidFill>
                  <a:srgbClr val="222222"/>
                </a:solidFill>
              </a:defRPr>
            </a:pPr>
            <a:r>
              <a:t>Multi-task directed heterogeneous GNN</a:t>
            </a:r>
          </a:p>
          <a:p>
            <a:pPr defTabSz="393192">
              <a:defRPr sz="1118">
                <a:solidFill>
                  <a:srgbClr val="222222"/>
                </a:solidFill>
              </a:defRPr>
            </a:pPr>
          </a:p>
          <a:p>
            <a:pPr marL="112094" indent="-112094" defTabSz="393192">
              <a:buSzPct val="100000"/>
              <a:buChar char="•"/>
              <a:defRPr sz="1118">
                <a:solidFill>
                  <a:srgbClr val="222222"/>
                </a:solidFill>
              </a:defRPr>
            </a:pPr>
            <a:r>
              <a:t>Address pretraining followed by transaction fine-tuning</a:t>
            </a:r>
          </a:p>
        </p:txBody>
      </p:sp>
      <p:sp>
        <p:nvSpPr>
          <p:cNvPr id="91" name="Shape 23"/>
          <p:cNvSpPr/>
          <p:nvPr/>
        </p:nvSpPr>
        <p:spPr>
          <a:xfrm>
            <a:off x="6940295" y="951166"/>
            <a:ext cx="3977641" cy="1078993"/>
          </a:xfrm>
          <a:prstGeom prst="rect">
            <a:avLst/>
          </a:prstGeom>
          <a:solidFill>
            <a:srgbClr val="F1EEE8"/>
          </a:solidFill>
          <a:ln w="1016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24"/>
          <p:cNvSpPr txBox="1"/>
          <p:nvPr/>
        </p:nvSpPr>
        <p:spPr>
          <a:xfrm>
            <a:off x="7123176" y="1127442"/>
            <a:ext cx="12801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222222"/>
                </a:solidFill>
              </a:defRPr>
            </a:lvl1pPr>
          </a:lstStyle>
          <a:p>
            <a:pPr/>
            <a:r>
              <a:t>Modeling axis</a:t>
            </a:r>
          </a:p>
        </p:txBody>
      </p:sp>
      <p:sp>
        <p:nvSpPr>
          <p:cNvPr id="93" name="Text 25"/>
          <p:cNvSpPr txBox="1"/>
          <p:nvPr/>
        </p:nvSpPr>
        <p:spPr>
          <a:xfrm>
            <a:off x="7123176" y="1390078"/>
            <a:ext cx="3547872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13816">
              <a:defRPr sz="1246">
                <a:solidFill>
                  <a:srgbClr val="222222"/>
                </a:solidFill>
              </a:defRPr>
            </a:lvl1pPr>
          </a:lstStyle>
          <a:p>
            <a:pPr/>
            <a:r>
              <a:t>Feature-only  →  Graph neighborhood  →  Heterogeneous relations  →  Auxiliary supervision</a:t>
            </a:r>
          </a:p>
        </p:txBody>
      </p:sp>
      <p:sp>
        <p:nvSpPr>
          <p:cNvPr id="94" name="Text 27"/>
          <p:cNvSpPr txBox="1"/>
          <p:nvPr/>
        </p:nvSpPr>
        <p:spPr>
          <a:xfrm>
            <a:off x="5833871" y="6449821"/>
            <a:ext cx="5486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 txBox="1"/>
          <p:nvPr/>
        </p:nvSpPr>
        <p:spPr>
          <a:xfrm>
            <a:off x="447692" y="410972"/>
            <a:ext cx="38404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222222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9" name="Text 1"/>
          <p:cNvSpPr txBox="1"/>
          <p:nvPr/>
        </p:nvSpPr>
        <p:spPr>
          <a:xfrm>
            <a:off x="1024128" y="404622"/>
            <a:ext cx="722376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222222"/>
                </a:solidFill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00" name="Shape 2"/>
          <p:cNvSpPr/>
          <p:nvPr/>
        </p:nvSpPr>
        <p:spPr>
          <a:xfrm>
            <a:off x="1024127" y="841247"/>
            <a:ext cx="10561322" cy="1"/>
          </a:xfrm>
          <a:prstGeom prst="line">
            <a:avLst/>
          </a:prstGeom>
          <a:ln w="1524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01" name="Table 0"/>
          <p:cNvGraphicFramePr/>
          <p:nvPr/>
        </p:nvGraphicFramePr>
        <p:xfrm>
          <a:off x="749808" y="1234439"/>
          <a:ext cx="5113173" cy="12329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255463"/>
                <a:gridCol w="795126"/>
                <a:gridCol w="795126"/>
                <a:gridCol w="753278"/>
                <a:gridCol w="795126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Model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Illicit F1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Precision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Recall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ROC-AUC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XGBoost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0.7700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0.8100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0.7300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0.9230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GCN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0.2410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0.1401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0.8596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22222"/>
                          </a:solidFill>
                        </a:rPr>
                        <a:t>0.8138</a:t>
                      </a:r>
                    </a:p>
                  </a:txBody>
                  <a:tcPr marL="54864" marR="54864" marT="54864" marB="54864" anchor="t" anchorCtr="0" horzOverflow="overflow">
                    <a:lnL w="7620">
                      <a:solidFill>
                        <a:srgbClr val="AAA59A"/>
                      </a:solidFill>
                    </a:lnL>
                    <a:lnR w="7620">
                      <a:solidFill>
                        <a:srgbClr val="AAA59A"/>
                      </a:solidFill>
                    </a:lnR>
                    <a:lnT w="7620">
                      <a:solidFill>
                        <a:srgbClr val="AAA59A"/>
                      </a:solidFill>
                    </a:lnT>
                    <a:lnB w="7620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102" name="Text 5"/>
          <p:cNvSpPr txBox="1"/>
          <p:nvPr/>
        </p:nvSpPr>
        <p:spPr>
          <a:xfrm>
            <a:off x="774267" y="2933699"/>
            <a:ext cx="192024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22222"/>
                </a:solidFill>
              </a:defRPr>
            </a:lvl1pPr>
          </a:lstStyle>
          <a:p>
            <a:pPr/>
            <a:r>
              <a:t>Precision vs recall trade-off</a:t>
            </a:r>
          </a:p>
        </p:txBody>
      </p:sp>
      <p:sp>
        <p:nvSpPr>
          <p:cNvPr id="103" name="Text 6"/>
          <p:cNvSpPr txBox="1"/>
          <p:nvPr/>
        </p:nvSpPr>
        <p:spPr>
          <a:xfrm>
            <a:off x="774267" y="3382771"/>
            <a:ext cx="8686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D5A55"/>
                </a:solidFill>
              </a:defRPr>
            </a:lvl1pPr>
          </a:lstStyle>
          <a:p>
            <a:pPr/>
            <a:r>
              <a:t>Precision</a:t>
            </a:r>
          </a:p>
        </p:txBody>
      </p:sp>
      <p:sp>
        <p:nvSpPr>
          <p:cNvPr id="104" name="Text 7"/>
          <p:cNvSpPr txBox="1"/>
          <p:nvPr/>
        </p:nvSpPr>
        <p:spPr>
          <a:xfrm>
            <a:off x="774267" y="3715510"/>
            <a:ext cx="10058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222"/>
                </a:solidFill>
              </a:defRPr>
            </a:lvl1pPr>
          </a:lstStyle>
          <a:p>
            <a:pPr/>
            <a:r>
              <a:t>XGBoost</a:t>
            </a:r>
          </a:p>
        </p:txBody>
      </p:sp>
      <p:sp>
        <p:nvSpPr>
          <p:cNvPr id="105" name="Shape 8"/>
          <p:cNvSpPr/>
          <p:nvPr/>
        </p:nvSpPr>
        <p:spPr>
          <a:xfrm>
            <a:off x="1834971" y="3672838"/>
            <a:ext cx="3429001" cy="201169"/>
          </a:xfrm>
          <a:prstGeom prst="rect">
            <a:avLst/>
          </a:prstGeom>
          <a:solidFill>
            <a:srgbClr val="F1EEE8"/>
          </a:solidFill>
          <a:ln w="508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Shape 9"/>
          <p:cNvSpPr/>
          <p:nvPr/>
        </p:nvSpPr>
        <p:spPr>
          <a:xfrm>
            <a:off x="1834971" y="3672838"/>
            <a:ext cx="2777491" cy="201169"/>
          </a:xfrm>
          <a:prstGeom prst="rect">
            <a:avLst/>
          </a:prstGeom>
          <a:solidFill>
            <a:srgbClr val="3B3B39"/>
          </a:solidFill>
          <a:ln w="12700">
            <a:solidFill>
              <a:srgbClr val="3B3B39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0"/>
          <p:cNvSpPr txBox="1"/>
          <p:nvPr/>
        </p:nvSpPr>
        <p:spPr>
          <a:xfrm>
            <a:off x="5337124" y="3706366"/>
            <a:ext cx="493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D5A55"/>
                </a:solidFill>
              </a:defRPr>
            </a:lvl1pPr>
          </a:lstStyle>
          <a:p>
            <a:pPr/>
            <a:r>
              <a:t>0.81</a:t>
            </a:r>
          </a:p>
        </p:txBody>
      </p:sp>
      <p:sp>
        <p:nvSpPr>
          <p:cNvPr id="108" name="Text 11"/>
          <p:cNvSpPr txBox="1"/>
          <p:nvPr/>
        </p:nvSpPr>
        <p:spPr>
          <a:xfrm>
            <a:off x="774267" y="4035550"/>
            <a:ext cx="10058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222"/>
                </a:solidFill>
              </a:defRPr>
            </a:lvl1pPr>
          </a:lstStyle>
          <a:p>
            <a:pPr/>
            <a:r>
              <a:t>GCN</a:t>
            </a:r>
          </a:p>
        </p:txBody>
      </p:sp>
      <p:sp>
        <p:nvSpPr>
          <p:cNvPr id="109" name="Shape 12"/>
          <p:cNvSpPr/>
          <p:nvPr/>
        </p:nvSpPr>
        <p:spPr>
          <a:xfrm>
            <a:off x="1834971" y="3992879"/>
            <a:ext cx="3429001" cy="201169"/>
          </a:xfrm>
          <a:prstGeom prst="rect">
            <a:avLst/>
          </a:prstGeom>
          <a:solidFill>
            <a:srgbClr val="F1EEE8"/>
          </a:solidFill>
          <a:ln w="508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Shape 13"/>
          <p:cNvSpPr/>
          <p:nvPr/>
        </p:nvSpPr>
        <p:spPr>
          <a:xfrm>
            <a:off x="1834971" y="3992879"/>
            <a:ext cx="480404" cy="201169"/>
          </a:xfrm>
          <a:prstGeom prst="rect">
            <a:avLst/>
          </a:prstGeom>
          <a:solidFill>
            <a:srgbClr val="8A5A5A"/>
          </a:solidFill>
          <a:ln w="12700">
            <a:solidFill>
              <a:srgbClr val="8A5A5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14"/>
          <p:cNvSpPr txBox="1"/>
          <p:nvPr/>
        </p:nvSpPr>
        <p:spPr>
          <a:xfrm>
            <a:off x="5337124" y="4026406"/>
            <a:ext cx="493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D5A55"/>
                </a:solidFill>
              </a:defRPr>
            </a:lvl1pPr>
          </a:lstStyle>
          <a:p>
            <a:pPr/>
            <a:r>
              <a:t>0.14</a:t>
            </a:r>
          </a:p>
        </p:txBody>
      </p:sp>
      <p:sp>
        <p:nvSpPr>
          <p:cNvPr id="112" name="Text 15"/>
          <p:cNvSpPr txBox="1"/>
          <p:nvPr/>
        </p:nvSpPr>
        <p:spPr>
          <a:xfrm>
            <a:off x="774267" y="4406899"/>
            <a:ext cx="6400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D5A55"/>
                </a:solidFill>
              </a:defRPr>
            </a:lvl1pPr>
          </a:lstStyle>
          <a:p>
            <a:pPr/>
            <a:r>
              <a:t>Recall</a:t>
            </a:r>
          </a:p>
        </p:txBody>
      </p:sp>
      <p:sp>
        <p:nvSpPr>
          <p:cNvPr id="113" name="Text 16"/>
          <p:cNvSpPr txBox="1"/>
          <p:nvPr/>
        </p:nvSpPr>
        <p:spPr>
          <a:xfrm>
            <a:off x="774267" y="4739638"/>
            <a:ext cx="10058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222"/>
                </a:solidFill>
              </a:defRPr>
            </a:lvl1pPr>
          </a:lstStyle>
          <a:p>
            <a:pPr/>
            <a:r>
              <a:t>XGBoost</a:t>
            </a:r>
          </a:p>
        </p:txBody>
      </p:sp>
      <p:sp>
        <p:nvSpPr>
          <p:cNvPr id="114" name="Shape 17"/>
          <p:cNvSpPr/>
          <p:nvPr/>
        </p:nvSpPr>
        <p:spPr>
          <a:xfrm>
            <a:off x="1834971" y="4696967"/>
            <a:ext cx="3429001" cy="201169"/>
          </a:xfrm>
          <a:prstGeom prst="rect">
            <a:avLst/>
          </a:prstGeom>
          <a:solidFill>
            <a:srgbClr val="F1EEE8"/>
          </a:solidFill>
          <a:ln w="508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Shape 18"/>
          <p:cNvSpPr/>
          <p:nvPr/>
        </p:nvSpPr>
        <p:spPr>
          <a:xfrm>
            <a:off x="1834971" y="4696967"/>
            <a:ext cx="2503171" cy="201169"/>
          </a:xfrm>
          <a:prstGeom prst="rect">
            <a:avLst/>
          </a:prstGeom>
          <a:solidFill>
            <a:srgbClr val="3B3B39"/>
          </a:solidFill>
          <a:ln w="12700">
            <a:solidFill>
              <a:srgbClr val="3B3B39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19"/>
          <p:cNvSpPr txBox="1"/>
          <p:nvPr/>
        </p:nvSpPr>
        <p:spPr>
          <a:xfrm>
            <a:off x="5337124" y="4730494"/>
            <a:ext cx="493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D5A55"/>
                </a:solidFill>
              </a:defRPr>
            </a:lvl1pPr>
          </a:lstStyle>
          <a:p>
            <a:pPr/>
            <a:r>
              <a:t>0.73</a:t>
            </a:r>
          </a:p>
        </p:txBody>
      </p:sp>
      <p:sp>
        <p:nvSpPr>
          <p:cNvPr id="117" name="Text 20"/>
          <p:cNvSpPr txBox="1"/>
          <p:nvPr/>
        </p:nvSpPr>
        <p:spPr>
          <a:xfrm>
            <a:off x="774267" y="5059678"/>
            <a:ext cx="10058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222"/>
                </a:solidFill>
              </a:defRPr>
            </a:lvl1pPr>
          </a:lstStyle>
          <a:p>
            <a:pPr/>
            <a:r>
              <a:t>GCN</a:t>
            </a:r>
          </a:p>
        </p:txBody>
      </p:sp>
      <p:sp>
        <p:nvSpPr>
          <p:cNvPr id="118" name="Shape 21"/>
          <p:cNvSpPr/>
          <p:nvPr/>
        </p:nvSpPr>
        <p:spPr>
          <a:xfrm>
            <a:off x="1834971" y="5017006"/>
            <a:ext cx="3429001" cy="201169"/>
          </a:xfrm>
          <a:prstGeom prst="rect">
            <a:avLst/>
          </a:prstGeom>
          <a:solidFill>
            <a:srgbClr val="F1EEE8"/>
          </a:solidFill>
          <a:ln w="508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22"/>
          <p:cNvSpPr/>
          <p:nvPr/>
        </p:nvSpPr>
        <p:spPr>
          <a:xfrm>
            <a:off x="1834971" y="5017006"/>
            <a:ext cx="2947569" cy="201169"/>
          </a:xfrm>
          <a:prstGeom prst="rect">
            <a:avLst/>
          </a:prstGeom>
          <a:solidFill>
            <a:srgbClr val="8A5A5A"/>
          </a:solidFill>
          <a:ln w="12700">
            <a:solidFill>
              <a:srgbClr val="8A5A5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23"/>
          <p:cNvSpPr txBox="1"/>
          <p:nvPr/>
        </p:nvSpPr>
        <p:spPr>
          <a:xfrm>
            <a:off x="5337124" y="5050534"/>
            <a:ext cx="493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D5A55"/>
                </a:solidFill>
              </a:defRPr>
            </a:lvl1pPr>
          </a:lstStyle>
          <a:p>
            <a:pPr/>
            <a:r>
              <a:t>0.86</a:t>
            </a:r>
          </a:p>
        </p:txBody>
      </p:sp>
      <p:sp>
        <p:nvSpPr>
          <p:cNvPr id="121" name="Text 27"/>
          <p:cNvSpPr txBox="1"/>
          <p:nvPr/>
        </p:nvSpPr>
        <p:spPr>
          <a:xfrm>
            <a:off x="5833871" y="6449821"/>
            <a:ext cx="5486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5</a:t>
            </a:r>
          </a:p>
        </p:txBody>
      </p:sp>
      <p:graphicFrame>
        <p:nvGraphicFramePr>
          <p:cNvPr id="122" name="Table 0"/>
          <p:cNvGraphicFramePr/>
          <p:nvPr/>
        </p:nvGraphicFramePr>
        <p:xfrm>
          <a:off x="5971600" y="1126653"/>
          <a:ext cx="5806441" cy="234086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423160"/>
                <a:gridCol w="868680"/>
                <a:gridCol w="822960"/>
                <a:gridCol w="82296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Model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Illicit F1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Precision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ROC-AUC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Baseline GCN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0.2147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0.1325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0.5660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0.7772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Wallet-upgrade GCN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0.2245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0.1379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0.6038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0.7769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Directed hetero GNN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0.2250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0.1636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0.3601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0.7920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Address pretrain + finetune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0.2379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0.1502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0.5708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0.7885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Multi-task directed hetero GNN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0.2918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0.1875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0.6572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22222"/>
                          </a:solidFill>
                        </a:rPr>
                        <a:t>0.8560</a:t>
                      </a:r>
                    </a:p>
                  </a:txBody>
                  <a:tcPr marL="45720" marR="45720" marT="45720" marB="45720" anchor="t" anchorCtr="0" horzOverflow="overflow">
                    <a:lnL w="6985">
                      <a:solidFill>
                        <a:srgbClr val="AAA59A"/>
                      </a:solidFill>
                    </a:lnL>
                    <a:lnR w="6985">
                      <a:solidFill>
                        <a:srgbClr val="AAA59A"/>
                      </a:solidFill>
                    </a:lnR>
                    <a:lnT w="6985">
                      <a:solidFill>
                        <a:srgbClr val="AAA59A"/>
                      </a:solidFill>
                    </a:lnT>
                    <a:lnB w="6985">
                      <a:solidFill>
                        <a:srgbClr val="AAA59A"/>
                      </a:solidFill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123" name="Text 12"/>
          <p:cNvSpPr txBox="1"/>
          <p:nvPr/>
        </p:nvSpPr>
        <p:spPr>
          <a:xfrm>
            <a:off x="6271187" y="3745303"/>
            <a:ext cx="13258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222222"/>
                </a:solidFill>
              </a:defRPr>
            </a:lvl1pPr>
          </a:lstStyle>
          <a:p>
            <a:pPr/>
            <a:r>
              <a:t>Illicit F1 ranking</a:t>
            </a:r>
          </a:p>
        </p:txBody>
      </p:sp>
      <p:sp>
        <p:nvSpPr>
          <p:cNvPr id="124" name="Text 13"/>
          <p:cNvSpPr txBox="1"/>
          <p:nvPr/>
        </p:nvSpPr>
        <p:spPr>
          <a:xfrm>
            <a:off x="6252900" y="4105475"/>
            <a:ext cx="1508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222"/>
                </a:solidFill>
              </a:defRPr>
            </a:lvl1pPr>
          </a:lstStyle>
          <a:p>
            <a:pPr/>
            <a:r>
              <a:t>Baseline GCN</a:t>
            </a:r>
          </a:p>
        </p:txBody>
      </p:sp>
      <p:sp>
        <p:nvSpPr>
          <p:cNvPr id="125" name="Shape 14"/>
          <p:cNvSpPr/>
          <p:nvPr/>
        </p:nvSpPr>
        <p:spPr>
          <a:xfrm>
            <a:off x="7816523" y="4071947"/>
            <a:ext cx="3154681" cy="182881"/>
          </a:xfrm>
          <a:prstGeom prst="rect">
            <a:avLst/>
          </a:prstGeom>
          <a:solidFill>
            <a:srgbClr val="F1EEE8"/>
          </a:solidFill>
          <a:ln w="508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Shape 15"/>
          <p:cNvSpPr/>
          <p:nvPr/>
        </p:nvSpPr>
        <p:spPr>
          <a:xfrm>
            <a:off x="7816523" y="4071947"/>
            <a:ext cx="2116594" cy="182881"/>
          </a:xfrm>
          <a:prstGeom prst="rect">
            <a:avLst/>
          </a:prstGeom>
          <a:solidFill>
            <a:srgbClr val="3B3B39"/>
          </a:solidFill>
          <a:ln w="12700">
            <a:solidFill>
              <a:srgbClr val="3B3B39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16"/>
          <p:cNvSpPr txBox="1"/>
          <p:nvPr/>
        </p:nvSpPr>
        <p:spPr>
          <a:xfrm>
            <a:off x="11044356" y="4096331"/>
            <a:ext cx="493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D5A55"/>
                </a:solidFill>
              </a:defRPr>
            </a:lvl1pPr>
          </a:lstStyle>
          <a:p>
            <a:pPr/>
            <a:r>
              <a:t>0.2147</a:t>
            </a:r>
          </a:p>
        </p:txBody>
      </p:sp>
      <p:sp>
        <p:nvSpPr>
          <p:cNvPr id="128" name="Text 17"/>
          <p:cNvSpPr txBox="1"/>
          <p:nvPr/>
        </p:nvSpPr>
        <p:spPr>
          <a:xfrm>
            <a:off x="6252900" y="4416371"/>
            <a:ext cx="1508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222"/>
                </a:solidFill>
              </a:defRPr>
            </a:lvl1pPr>
          </a:lstStyle>
          <a:p>
            <a:pPr/>
            <a:r>
              <a:t>Wallet-upgrade GCN</a:t>
            </a:r>
          </a:p>
        </p:txBody>
      </p:sp>
      <p:sp>
        <p:nvSpPr>
          <p:cNvPr id="129" name="Shape 18"/>
          <p:cNvSpPr/>
          <p:nvPr/>
        </p:nvSpPr>
        <p:spPr>
          <a:xfrm>
            <a:off x="7816523" y="4382843"/>
            <a:ext cx="3154681" cy="182881"/>
          </a:xfrm>
          <a:prstGeom prst="rect">
            <a:avLst/>
          </a:prstGeom>
          <a:solidFill>
            <a:srgbClr val="F1EEE8"/>
          </a:solidFill>
          <a:ln w="508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19"/>
          <p:cNvSpPr/>
          <p:nvPr/>
        </p:nvSpPr>
        <p:spPr>
          <a:xfrm>
            <a:off x="7816523" y="4382843"/>
            <a:ext cx="2213206" cy="182881"/>
          </a:xfrm>
          <a:prstGeom prst="rect">
            <a:avLst/>
          </a:prstGeom>
          <a:solidFill>
            <a:srgbClr val="3B3B39"/>
          </a:solidFill>
          <a:ln w="12700">
            <a:solidFill>
              <a:srgbClr val="3B3B39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20"/>
          <p:cNvSpPr txBox="1"/>
          <p:nvPr/>
        </p:nvSpPr>
        <p:spPr>
          <a:xfrm>
            <a:off x="11044356" y="4407227"/>
            <a:ext cx="493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D5A55"/>
                </a:solidFill>
              </a:defRPr>
            </a:lvl1pPr>
          </a:lstStyle>
          <a:p>
            <a:pPr/>
            <a:r>
              <a:t>0.2245</a:t>
            </a:r>
          </a:p>
        </p:txBody>
      </p:sp>
      <p:sp>
        <p:nvSpPr>
          <p:cNvPr id="132" name="Text 21"/>
          <p:cNvSpPr txBox="1"/>
          <p:nvPr/>
        </p:nvSpPr>
        <p:spPr>
          <a:xfrm>
            <a:off x="6252900" y="4727267"/>
            <a:ext cx="1508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222"/>
                </a:solidFill>
              </a:defRPr>
            </a:lvl1pPr>
          </a:lstStyle>
          <a:p>
            <a:pPr/>
            <a:r>
              <a:t>Directed hetero GNN</a:t>
            </a:r>
          </a:p>
        </p:txBody>
      </p:sp>
      <p:sp>
        <p:nvSpPr>
          <p:cNvPr id="133" name="Shape 22"/>
          <p:cNvSpPr/>
          <p:nvPr/>
        </p:nvSpPr>
        <p:spPr>
          <a:xfrm>
            <a:off x="7816523" y="4693739"/>
            <a:ext cx="3154681" cy="182881"/>
          </a:xfrm>
          <a:prstGeom prst="rect">
            <a:avLst/>
          </a:prstGeom>
          <a:solidFill>
            <a:srgbClr val="F1EEE8"/>
          </a:solidFill>
          <a:ln w="508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hape 23"/>
          <p:cNvSpPr/>
          <p:nvPr/>
        </p:nvSpPr>
        <p:spPr>
          <a:xfrm>
            <a:off x="7816523" y="4693739"/>
            <a:ext cx="2218135" cy="182881"/>
          </a:xfrm>
          <a:prstGeom prst="rect">
            <a:avLst/>
          </a:prstGeom>
          <a:solidFill>
            <a:srgbClr val="3B3B39"/>
          </a:solidFill>
          <a:ln w="12700">
            <a:solidFill>
              <a:srgbClr val="3B3B39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24"/>
          <p:cNvSpPr txBox="1"/>
          <p:nvPr/>
        </p:nvSpPr>
        <p:spPr>
          <a:xfrm>
            <a:off x="11044356" y="4718123"/>
            <a:ext cx="493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D5A55"/>
                </a:solidFill>
              </a:defRPr>
            </a:lvl1pPr>
          </a:lstStyle>
          <a:p>
            <a:pPr/>
            <a:r>
              <a:t>0.2250</a:t>
            </a:r>
          </a:p>
        </p:txBody>
      </p:sp>
      <p:sp>
        <p:nvSpPr>
          <p:cNvPr id="136" name="Text 25"/>
          <p:cNvSpPr txBox="1"/>
          <p:nvPr/>
        </p:nvSpPr>
        <p:spPr>
          <a:xfrm>
            <a:off x="6252900" y="4961963"/>
            <a:ext cx="15087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222"/>
                </a:solidFill>
              </a:defRPr>
            </a:lvl1pPr>
          </a:lstStyle>
          <a:p>
            <a:pPr/>
            <a:r>
              <a:t>Address pre-train + fine-tune</a:t>
            </a:r>
          </a:p>
        </p:txBody>
      </p:sp>
      <p:sp>
        <p:nvSpPr>
          <p:cNvPr id="137" name="Shape 26"/>
          <p:cNvSpPr/>
          <p:nvPr/>
        </p:nvSpPr>
        <p:spPr>
          <a:xfrm>
            <a:off x="7816523" y="5004635"/>
            <a:ext cx="3154681" cy="182881"/>
          </a:xfrm>
          <a:prstGeom prst="rect">
            <a:avLst/>
          </a:prstGeom>
          <a:solidFill>
            <a:srgbClr val="F1EEE8"/>
          </a:solidFill>
          <a:ln w="508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hape 27"/>
          <p:cNvSpPr/>
          <p:nvPr/>
        </p:nvSpPr>
        <p:spPr>
          <a:xfrm>
            <a:off x="7816523" y="5004635"/>
            <a:ext cx="2345308" cy="182881"/>
          </a:xfrm>
          <a:prstGeom prst="rect">
            <a:avLst/>
          </a:prstGeom>
          <a:solidFill>
            <a:srgbClr val="3B3B39"/>
          </a:solidFill>
          <a:ln w="12700">
            <a:solidFill>
              <a:srgbClr val="3B3B39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28"/>
          <p:cNvSpPr txBox="1"/>
          <p:nvPr/>
        </p:nvSpPr>
        <p:spPr>
          <a:xfrm>
            <a:off x="11044356" y="5029019"/>
            <a:ext cx="493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D5A55"/>
                </a:solidFill>
              </a:defRPr>
            </a:lvl1pPr>
          </a:lstStyle>
          <a:p>
            <a:pPr/>
            <a:r>
              <a:t>0.2379</a:t>
            </a:r>
          </a:p>
        </p:txBody>
      </p:sp>
      <p:sp>
        <p:nvSpPr>
          <p:cNvPr id="140" name="Text 29"/>
          <p:cNvSpPr txBox="1"/>
          <p:nvPr/>
        </p:nvSpPr>
        <p:spPr>
          <a:xfrm>
            <a:off x="6252900" y="5272859"/>
            <a:ext cx="15087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222"/>
                </a:solidFill>
              </a:defRPr>
            </a:lvl1pPr>
          </a:lstStyle>
          <a:p>
            <a:pPr/>
            <a:r>
              <a:t>Multi-task directed hetero GNN</a:t>
            </a:r>
          </a:p>
        </p:txBody>
      </p:sp>
      <p:sp>
        <p:nvSpPr>
          <p:cNvPr id="141" name="Shape 30"/>
          <p:cNvSpPr/>
          <p:nvPr/>
        </p:nvSpPr>
        <p:spPr>
          <a:xfrm>
            <a:off x="7816523" y="5315531"/>
            <a:ext cx="3154681" cy="182881"/>
          </a:xfrm>
          <a:prstGeom prst="rect">
            <a:avLst/>
          </a:prstGeom>
          <a:solidFill>
            <a:srgbClr val="F1EEE8"/>
          </a:solidFill>
          <a:ln w="508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Shape 31"/>
          <p:cNvSpPr/>
          <p:nvPr/>
        </p:nvSpPr>
        <p:spPr>
          <a:xfrm>
            <a:off x="7816523" y="5315531"/>
            <a:ext cx="2876675" cy="182881"/>
          </a:xfrm>
          <a:prstGeom prst="rect">
            <a:avLst/>
          </a:prstGeom>
          <a:solidFill>
            <a:srgbClr val="8A5A5A"/>
          </a:solidFill>
          <a:ln w="12700">
            <a:solidFill>
              <a:srgbClr val="8A5A5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32"/>
          <p:cNvSpPr txBox="1"/>
          <p:nvPr/>
        </p:nvSpPr>
        <p:spPr>
          <a:xfrm>
            <a:off x="11044356" y="5339915"/>
            <a:ext cx="4937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D5A55"/>
                </a:solidFill>
              </a:defRPr>
            </a:lvl1pPr>
          </a:lstStyle>
          <a:p>
            <a:pPr/>
            <a:r>
              <a:t>0.2918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 txBox="1"/>
          <p:nvPr/>
        </p:nvSpPr>
        <p:spPr>
          <a:xfrm>
            <a:off x="512063" y="410972"/>
            <a:ext cx="38404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222222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8" name="Text 1"/>
          <p:cNvSpPr txBox="1"/>
          <p:nvPr/>
        </p:nvSpPr>
        <p:spPr>
          <a:xfrm>
            <a:off x="1024128" y="404622"/>
            <a:ext cx="722376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222222"/>
                </a:solidFill>
              </a:defRPr>
            </a:lvl1pPr>
          </a:lstStyle>
          <a:p>
            <a:pPr/>
            <a:r>
              <a:t>Discussion and Limitations</a:t>
            </a:r>
          </a:p>
        </p:txBody>
      </p:sp>
      <p:sp>
        <p:nvSpPr>
          <p:cNvPr id="149" name="Shape 2"/>
          <p:cNvSpPr/>
          <p:nvPr/>
        </p:nvSpPr>
        <p:spPr>
          <a:xfrm>
            <a:off x="1024127" y="841247"/>
            <a:ext cx="10561322" cy="1"/>
          </a:xfrm>
          <a:prstGeom prst="line">
            <a:avLst/>
          </a:prstGeom>
          <a:ln w="1524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3"/>
          <p:cNvSpPr txBox="1"/>
          <p:nvPr/>
        </p:nvSpPr>
        <p:spPr>
          <a:xfrm>
            <a:off x="786383" y="1276858"/>
            <a:ext cx="38404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222222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1" name="Text 4"/>
          <p:cNvSpPr txBox="1"/>
          <p:nvPr/>
        </p:nvSpPr>
        <p:spPr>
          <a:xfrm>
            <a:off x="1298447" y="1316736"/>
            <a:ext cx="544068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41247">
              <a:defRPr sz="1472">
                <a:solidFill>
                  <a:srgbClr val="222222"/>
                </a:solidFill>
              </a:defRPr>
            </a:lvl1pPr>
          </a:lstStyle>
          <a:p>
            <a:pPr/>
            <a:r>
              <a:t>Tabular models remain very strong when the feature space is rich.</a:t>
            </a:r>
          </a:p>
        </p:txBody>
      </p:sp>
      <p:sp>
        <p:nvSpPr>
          <p:cNvPr id="152" name="Text 5"/>
          <p:cNvSpPr txBox="1"/>
          <p:nvPr/>
        </p:nvSpPr>
        <p:spPr>
          <a:xfrm>
            <a:off x="1298447" y="1700783"/>
            <a:ext cx="544068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04672">
              <a:defRPr sz="1144">
                <a:solidFill>
                  <a:srgbClr val="5D5A55"/>
                </a:solidFill>
              </a:defRPr>
            </a:lvl1pPr>
          </a:lstStyle>
          <a:p>
            <a:pPr/>
            <a:r>
              <a:t>On Elliptic, XGBoost outperformed the GCN by a large margin on illicit F1 and ROC-AUC.</a:t>
            </a:r>
          </a:p>
        </p:txBody>
      </p:sp>
      <p:sp>
        <p:nvSpPr>
          <p:cNvPr id="153" name="Shape 6"/>
          <p:cNvSpPr/>
          <p:nvPr/>
        </p:nvSpPr>
        <p:spPr>
          <a:xfrm>
            <a:off x="1298448" y="2167127"/>
            <a:ext cx="5193792" cy="1"/>
          </a:xfrm>
          <a:prstGeom prst="line">
            <a:avLst/>
          </a:prstGeom>
          <a:ln w="1143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7"/>
          <p:cNvSpPr txBox="1"/>
          <p:nvPr/>
        </p:nvSpPr>
        <p:spPr>
          <a:xfrm>
            <a:off x="786383" y="2337561"/>
            <a:ext cx="38404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222222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5" name="Text 8"/>
          <p:cNvSpPr txBox="1"/>
          <p:nvPr/>
        </p:nvSpPr>
        <p:spPr>
          <a:xfrm>
            <a:off x="1298447" y="2377439"/>
            <a:ext cx="544068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77240">
              <a:defRPr sz="1360">
                <a:solidFill>
                  <a:srgbClr val="222222"/>
                </a:solidFill>
              </a:defRPr>
            </a:lvl1pPr>
          </a:lstStyle>
          <a:p>
            <a:pPr/>
            <a:r>
              <a:t>Graph structure becomes more useful as the dataset becomes richer and more heterogeneous.</a:t>
            </a:r>
          </a:p>
        </p:txBody>
      </p:sp>
      <p:sp>
        <p:nvSpPr>
          <p:cNvPr id="156" name="Text 9"/>
          <p:cNvSpPr txBox="1"/>
          <p:nvPr/>
        </p:nvSpPr>
        <p:spPr>
          <a:xfrm>
            <a:off x="1298447" y="2761488"/>
            <a:ext cx="544068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04672">
              <a:defRPr sz="1144">
                <a:solidFill>
                  <a:srgbClr val="5D5A55"/>
                </a:solidFill>
              </a:defRPr>
            </a:lvl1pPr>
          </a:lstStyle>
          <a:p>
            <a:pPr/>
            <a:r>
              <a:t>On Elliptic++, the best results came from the multi-task directed heterogeneous GNN.</a:t>
            </a:r>
          </a:p>
        </p:txBody>
      </p:sp>
      <p:sp>
        <p:nvSpPr>
          <p:cNvPr id="157" name="Shape 10"/>
          <p:cNvSpPr/>
          <p:nvPr/>
        </p:nvSpPr>
        <p:spPr>
          <a:xfrm>
            <a:off x="1298448" y="3227832"/>
            <a:ext cx="5193792" cy="1"/>
          </a:xfrm>
          <a:prstGeom prst="line">
            <a:avLst/>
          </a:prstGeom>
          <a:ln w="11430">
            <a:solidFill>
              <a:srgbClr val="ECE8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1"/>
          <p:cNvSpPr txBox="1"/>
          <p:nvPr/>
        </p:nvSpPr>
        <p:spPr>
          <a:xfrm>
            <a:off x="786383" y="3398265"/>
            <a:ext cx="38404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222222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9" name="Text 12"/>
          <p:cNvSpPr txBox="1"/>
          <p:nvPr/>
        </p:nvSpPr>
        <p:spPr>
          <a:xfrm>
            <a:off x="1298447" y="3438144"/>
            <a:ext cx="544068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222222"/>
                </a:solidFill>
              </a:defRPr>
            </a:lvl1pPr>
          </a:lstStyle>
          <a:p>
            <a:pPr/>
            <a:r>
              <a:t>Threshold choice is critical under severe class imbalance.</a:t>
            </a:r>
          </a:p>
        </p:txBody>
      </p:sp>
      <p:sp>
        <p:nvSpPr>
          <p:cNvPr id="160" name="Text 13"/>
          <p:cNvSpPr txBox="1"/>
          <p:nvPr/>
        </p:nvSpPr>
        <p:spPr>
          <a:xfrm>
            <a:off x="1298447" y="3822191"/>
            <a:ext cx="544068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04672">
              <a:defRPr sz="1144">
                <a:solidFill>
                  <a:srgbClr val="5D5A55"/>
                </a:solidFill>
              </a:defRPr>
            </a:lvl1pPr>
          </a:lstStyle>
          <a:p>
            <a:pPr/>
            <a:r>
              <a:t>Several GNN variants show reasonable ROC-AUC but low precision, which suggests ranking quality without an optimal operating threshold.</a:t>
            </a:r>
          </a:p>
        </p:txBody>
      </p:sp>
      <p:sp>
        <p:nvSpPr>
          <p:cNvPr id="161" name="Shape 14"/>
          <p:cNvSpPr/>
          <p:nvPr/>
        </p:nvSpPr>
        <p:spPr>
          <a:xfrm>
            <a:off x="7242047" y="1298447"/>
            <a:ext cx="3794760" cy="3291842"/>
          </a:xfrm>
          <a:prstGeom prst="rect">
            <a:avLst/>
          </a:prstGeom>
          <a:solidFill>
            <a:srgbClr val="F1EEE8"/>
          </a:solidFill>
          <a:ln w="10160">
            <a:solidFill>
              <a:srgbClr val="AAA5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15"/>
          <p:cNvSpPr txBox="1"/>
          <p:nvPr/>
        </p:nvSpPr>
        <p:spPr>
          <a:xfrm>
            <a:off x="7443216" y="1504950"/>
            <a:ext cx="914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22222"/>
                </a:solidFill>
              </a:defRPr>
            </a:lvl1pPr>
          </a:lstStyle>
          <a:p>
            <a:pPr/>
            <a:r>
              <a:t>Caveats</a:t>
            </a:r>
          </a:p>
        </p:txBody>
      </p:sp>
      <p:sp>
        <p:nvSpPr>
          <p:cNvPr id="163" name="Text 16"/>
          <p:cNvSpPr txBox="1"/>
          <p:nvPr/>
        </p:nvSpPr>
        <p:spPr>
          <a:xfrm>
            <a:off x="7388352" y="1828800"/>
            <a:ext cx="3383281" cy="2194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03200" indent="-203200">
              <a:buSzPct val="100000"/>
              <a:buChar char="•"/>
              <a:defRPr sz="1300">
                <a:solidFill>
                  <a:srgbClr val="222222"/>
                </a:solidFill>
              </a:defRPr>
            </a:pPr>
            <a:r>
              <a:t>Accuracy is not a useful headline metric because licit cases dominate the test set.</a:t>
            </a:r>
          </a:p>
          <a:p>
            <a:pPr marL="203200" indent="-203200">
              <a:buSzPct val="100000"/>
              <a:buChar char="•"/>
              <a:defRPr sz="1300">
                <a:solidFill>
                  <a:srgbClr val="222222"/>
                </a:solidFill>
              </a:defRPr>
            </a:pPr>
          </a:p>
          <a:p>
            <a:pPr marL="203200" indent="-203200">
              <a:buSzPct val="100000"/>
              <a:buChar char="•"/>
              <a:defRPr sz="1300">
                <a:solidFill>
                  <a:srgbClr val="222222"/>
                </a:solidFill>
              </a:defRPr>
            </a:pPr>
            <a:r>
              <a:t>Threshold tuning or score calibration may improve operational precision.</a:t>
            </a:r>
          </a:p>
          <a:p>
            <a:pPr marL="203200" indent="-203200">
              <a:buSzPct val="100000"/>
              <a:buChar char="•"/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Temporal drift can reduce performance if fraud patterns change over time.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Elliptic++ results still depend on the current split and preprocessing choices.</a:t>
            </a:r>
          </a:p>
        </p:txBody>
      </p:sp>
      <p:sp>
        <p:nvSpPr>
          <p:cNvPr id="164" name="Text 17"/>
          <p:cNvSpPr txBox="1"/>
          <p:nvPr/>
        </p:nvSpPr>
        <p:spPr>
          <a:xfrm>
            <a:off x="804671" y="5175503"/>
            <a:ext cx="101498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i="1">
                <a:solidFill>
                  <a:srgbClr val="3B3B39"/>
                </a:solidFill>
              </a:defRPr>
            </a:lvl1pPr>
          </a:lstStyle>
          <a:p>
            <a:pPr/>
            <a:r>
              <a:t>Likely next step: tune operating thresholds and calibration before deployment-oriented evaluation.</a:t>
            </a:r>
          </a:p>
        </p:txBody>
      </p:sp>
      <p:sp>
        <p:nvSpPr>
          <p:cNvPr id="165" name="Text 18"/>
          <p:cNvSpPr txBox="1"/>
          <p:nvPr/>
        </p:nvSpPr>
        <p:spPr>
          <a:xfrm>
            <a:off x="5833871" y="6449821"/>
            <a:ext cx="5486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5D5A55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Georgia"/>
        <a:ea typeface="Georgia"/>
        <a:cs typeface="Georgia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Georgia"/>
        <a:ea typeface="Georgia"/>
        <a:cs typeface="Georgia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